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D2F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B3D2F"/>
                </a:solidFill>
                <a:latin typeface="Georgia"/>
              </a:rPr>
              <a:t>PM2.5 vs. honey bee outcomes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State × Quarter
Percent Lost</c:v>
                  </c:pt>
                  <c:pt idx="1">
                    <c:v>State × Quarter
Net Change</c:v>
                  </c:pt>
                  <c:pt idx="2">
                    <c:v>State Average
Percent Lost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0.27</c:v>
                </c:pt>
                <c:pt idx="1">
                  <c:v>-0.2</c:v>
                </c:pt>
                <c:pt idx="2">
                  <c:v>0.37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1" i="0" strike="noStrike" sz="1100" u="none">
                  <a:solidFill>
                    <a:srgbClr val="1F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5"/>
        </c:scaling>
        <c:delete val="0"/>
        <c:axPos val="l"/>
        <c:majorGridlines>
          <c:spPr>
            <a:ln w="6350" cap="flat">
              <a:solidFill>
                <a:srgbClr val="DCD7C9"/>
              </a:solidFill>
              <a:prstDash val="solid"/>
              <a:round/>
            </a:ln>
          </c:spPr>
        </c:majorGridlines>
        <c:numFmt formatCode="0.0;-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D2F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B3D2F"/>
                </a:solidFill>
                <a:latin typeface="Georgia"/>
              </a:rPr>
              <a:t>Ozone vs. honey bee outcomes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2C7DA0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Net Change Rate</c:v>
                  </c:pt>
                  <c:pt idx="1">
                    <c:v>Percent Renovated</c:v>
                  </c:pt>
                  <c:pt idx="2">
                    <c:v>Percent Lost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</c:v>
                </c:pt>
                <c:pt idx="1">
                  <c:v>0.37</c:v>
                </c:pt>
                <c:pt idx="2">
                  <c:v>-0.19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1" i="0" strike="noStrike" sz="1100" u="none">
                  <a:solidFill>
                    <a:srgbClr val="1F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3"/>
        </c:scaling>
        <c:delete val="0"/>
        <c:axPos val="l"/>
        <c:majorGridlines>
          <c:spPr>
            <a:ln w="6350" cap="flat">
              <a:solidFill>
                <a:srgbClr val="DCD7C9"/>
              </a:solidFill>
              <a:prstDash val="solid"/>
              <a:round/>
            </a:ln>
          </c:spPr>
        </c:majorGridlines>
        <c:numFmt formatCode="0.0;-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846320"/>
            <a:ext cx="777240" cy="673090"/>
          </a:xfrm>
          <a:prstGeom prst="hexagon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257800"/>
            <a:ext cx="777240" cy="673090"/>
          </a:xfrm>
          <a:prstGeom prst="hexagon">
            <a:avLst/>
          </a:prstGeom>
          <a:solidFill>
            <a:srgbClr val="F4D77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434840"/>
            <a:ext cx="777240" cy="673090"/>
          </a:xfrm>
          <a:prstGeom prst="hexagon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4846320"/>
            <a:ext cx="777240" cy="673090"/>
          </a:xfrm>
          <a:prstGeom prst="hexagon">
            <a:avLst/>
          </a:prstGeom>
          <a:solidFill>
            <a:srgbClr val="F4D77A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09760" y="5669280"/>
            <a:ext cx="777240" cy="673090"/>
          </a:xfrm>
          <a:prstGeom prst="hexagon">
            <a:avLst/>
          </a:prstGeom>
          <a:solidFill>
            <a:srgbClr val="F4D77A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5669280"/>
            <a:ext cx="777240" cy="673090"/>
          </a:xfrm>
          <a:prstGeom prst="hexagon">
            <a:avLst/>
          </a:prstGeom>
          <a:solidFill>
            <a:srgbClr val="D4A017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4023360"/>
            <a:ext cx="777240" cy="673090"/>
          </a:xfrm>
          <a:prstGeom prst="hexagon">
            <a:avLst/>
          </a:prstGeom>
          <a:solidFill>
            <a:srgbClr val="F4D77A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48640"/>
            <a:ext cx="201168" cy="174211"/>
          </a:xfrm>
          <a:prstGeom prst="hexagon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477  ·  FINAL PROJECT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data-curation study of U.S. state-level monitoring data, 2024–2025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Pollution Emissions</a:t>
            </a:r>
            <a:endParaRPr lang="en-US" sz="4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Honey Bee Colony Losses</a:t>
            </a:r>
            <a:endParaRPr lang="en-US" sz="4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the United States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Cao  ·  Nanxi Chen  ·  Sangshi (Justin) Yang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Illinois Urbana–Champaign  ·  Spring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035040"/>
            <a:ext cx="54864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environmental drivers of pollinator decline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64592" cy="142537"/>
          </a:xfrm>
          <a:prstGeom prst="hexagon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this matter?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 down I-57 toward Chicago — endless cornfields stretching to the horizon — sparked a simple question: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of what we eat depends on something as fragile as a honey bee?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USDA reports show record-high colony losses across 2024–2025.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well-studied stressors — Varroa mites, pesticides, disease — environmental air quality has been flagged as a possible but under-quantified contributor.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1737360"/>
            <a:ext cx="4846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0" y="1737360"/>
            <a:ext cx="73152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190195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281160" y="1920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food crops worldwide rely on honey bee pollination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81160" y="2743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FAO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3337560"/>
            <a:ext cx="4846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0" y="3337560"/>
            <a:ext cx="73152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350215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2024–25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5204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record-high colony losses in the United States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81160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USDA NASS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4937760"/>
            <a:ext cx="4846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4937760"/>
            <a:ext cx="73152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510235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281160" y="5120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air pollutants tested across all U.S. states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81160" y="5943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EPA AQS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× Honey Bee Colonies  ·  IS 477 Final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64592" cy="142537"/>
          </a:xfrm>
          <a:prstGeom prst="hexagon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set out to test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0116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there a statistically significant correlation between </a:t>
            </a:r>
            <a:pPr indent="0" marL="0">
              <a:buNone/>
            </a:pPr>
            <a:r>
              <a:rPr lang="en-US" sz="2600" b="1" i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pollution emissions </a:t>
            </a:r>
            <a:pPr indent="0" marL="0">
              <a:buNone/>
            </a:pPr>
            <a:r>
              <a:rPr lang="en-US" sz="26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each U.S. state and </a:t>
            </a:r>
            <a:pPr indent="0" marL="0">
              <a:buNone/>
            </a:pPr>
            <a:r>
              <a:rPr lang="en-US" sz="2600" b="1" i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honey bee colony change rates</a:t>
            </a:r>
            <a:pPr indent="0" marL="0">
              <a:buNone/>
            </a:pPr>
            <a:r>
              <a:rPr lang="en-US" sz="26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across 2024–2025?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POLLUTANTS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five EPA-monitored pollutants — Ozone, PM2.5, CO, NO₂, SO₂ — measured at thousands of monitoring stations.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429768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45152" y="4937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OUTCOMES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152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normalized colony metrics from USDA: Percent Lost, Percent Renovated, and Net Change Rate.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93024" y="429768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67344" y="4937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GRAIN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67344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state × quarter panel (n ≈ 161–167) plus state-level averages (n = 42–44 states).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× Honey Bee Colonies  ·  IS 477 Final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64592" cy="142537"/>
          </a:xfrm>
          <a:prstGeom prst="hexagon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complementary federal datasets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532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532120" cy="822960"/>
          </a:xfrm>
          <a:prstGeom prst="rect">
            <a:avLst/>
          </a:prstGeom>
          <a:solidFill>
            <a:srgbClr val="1B3D2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0665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USDA NASS Honey Bee Colonies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27432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states · Jan 2024 – Apr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32461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· per-state colony counts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3749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PDF · converted to CSV in Python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77440" y="42519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Colonies, Lost, Added, Renovated, % Lost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4754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rows × 17 columns (post-cleaning)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7607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esmis.nal.usda.gov/publication/honey-bee-colonies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1737360"/>
            <a:ext cx="5532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1737360"/>
            <a:ext cx="5532120" cy="822960"/>
          </a:xfrm>
          <a:prstGeom prst="rect">
            <a:avLst/>
          </a:prstGeom>
          <a:solidFill>
            <a:srgbClr val="1B3D2F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20665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EPA Air Quality System (AQS)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29400" y="2743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92440" y="27432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monitoring stations · 2024 – 2025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92440" y="32461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site-level pollutant readings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3749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92440" y="3749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Pre-structured CSV files (downloaded direct)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Pollutant, Mean concentration, Obs. %, State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4754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92440" y="4754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~2.23 million rows × 10 columns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57607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aqs.epa.gov/aqsweb/airdata/download_files.html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are public-domain, federally maintained, and merged at the State × Quarter level.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64592" cy="142537"/>
          </a:xfrm>
          <a:prstGeom prst="hexagon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CURATION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release files to one merged panel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21284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3584" y="2057400"/>
            <a:ext cx="731520" cy="633496"/>
          </a:xfrm>
          <a:prstGeom prst="hexagon">
            <a:avLst/>
          </a:prstGeom>
          <a:solidFill>
            <a:srgbClr val="1B3D2F"/>
          </a:solidFill>
          <a:ln/>
        </p:spPr>
      </p:sp>
      <p:sp>
        <p:nvSpPr>
          <p:cNvPr id="7" name="Text 5"/>
          <p:cNvSpPr/>
          <p:nvPr/>
        </p:nvSpPr>
        <p:spPr>
          <a:xfrm>
            <a:off x="1243584" y="21214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18470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USDA PDF &amp; EPA daily CSVs from official portals.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2729484" y="3858768"/>
            <a:ext cx="91440" cy="146304"/>
          </a:xfrm>
          <a:prstGeom prst="rtTriangle">
            <a:avLst/>
          </a:prstGeom>
          <a:solidFill>
            <a:srgbClr val="D4A017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828800"/>
            <a:ext cx="221284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75304" y="2057400"/>
            <a:ext cx="731520" cy="633496"/>
          </a:xfrm>
          <a:prstGeom prst="hexagon">
            <a:avLst/>
          </a:prstGeom>
          <a:solidFill>
            <a:srgbClr val="1B3D2F"/>
          </a:solidFill>
          <a:ln/>
        </p:spPr>
      </p:sp>
      <p:sp>
        <p:nvSpPr>
          <p:cNvPr id="13" name="Text 11"/>
          <p:cNvSpPr/>
          <p:nvPr/>
        </p:nvSpPr>
        <p:spPr>
          <a:xfrm>
            <a:off x="3575304" y="21214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17520" y="29260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337560"/>
            <a:ext cx="18470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PDF tables into CSV with Python; load EPA CSVs with usecols filter.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5061204" y="3858768"/>
            <a:ext cx="91440" cy="146304"/>
          </a:xfrm>
          <a:prstGeom prst="rtTriangle">
            <a:avLst/>
          </a:prstGeom>
          <a:solidFill>
            <a:srgbClr val="D4A017"/>
          </a:solidFill>
          <a:ln/>
        </p:spPr>
      </p:sp>
      <p:sp>
        <p:nvSpPr>
          <p:cNvPr id="17" name="Shape 15"/>
          <p:cNvSpPr/>
          <p:nvPr/>
        </p:nvSpPr>
        <p:spPr>
          <a:xfrm>
            <a:off x="5166360" y="1828800"/>
            <a:ext cx="221284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7024" y="2057400"/>
            <a:ext cx="731520" cy="633496"/>
          </a:xfrm>
          <a:prstGeom prst="hexagon">
            <a:avLst/>
          </a:prstGeom>
          <a:solidFill>
            <a:srgbClr val="1B3D2F"/>
          </a:solidFill>
          <a:ln/>
        </p:spPr>
      </p:sp>
      <p:sp>
        <p:nvSpPr>
          <p:cNvPr id="19" name="Text 17"/>
          <p:cNvSpPr/>
          <p:nvPr/>
        </p:nvSpPr>
        <p:spPr>
          <a:xfrm>
            <a:off x="5907024" y="21214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9240" y="29260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3337560"/>
            <a:ext cx="18470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irrelevant stressors (Varroa, pesticides); coerce (X)/(Z) sentinels to NaN; standardize state names.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392924" y="3858768"/>
            <a:ext cx="91440" cy="146304"/>
          </a:xfrm>
          <a:prstGeom prst="rtTriangle">
            <a:avLst/>
          </a:prstGeom>
          <a:solidFill>
            <a:srgbClr val="D4A017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0" y="1828800"/>
            <a:ext cx="221284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38744" y="2057400"/>
            <a:ext cx="731520" cy="633496"/>
          </a:xfrm>
          <a:prstGeom prst="hexagon">
            <a:avLst/>
          </a:prstGeom>
          <a:solidFill>
            <a:srgbClr val="1B3D2F"/>
          </a:solidFill>
          <a:ln/>
        </p:spPr>
      </p:sp>
      <p:sp>
        <p:nvSpPr>
          <p:cNvPr id="25" name="Text 23"/>
          <p:cNvSpPr/>
          <p:nvPr/>
        </p:nvSpPr>
        <p:spPr>
          <a:xfrm>
            <a:off x="8238744" y="21214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0960" y="29260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0" y="3337560"/>
            <a:ext cx="18470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EPA daily readings up to State × Quarter × Pollutant means; pivot to wide form.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724644" y="3858768"/>
            <a:ext cx="91440" cy="146304"/>
          </a:xfrm>
          <a:prstGeom prst="rtTriangle">
            <a:avLst/>
          </a:prstGeom>
          <a:solidFill>
            <a:srgbClr val="D4A017"/>
          </a:solidFill>
          <a:ln/>
        </p:spPr>
      </p:sp>
      <p:sp>
        <p:nvSpPr>
          <p:cNvPr id="29" name="Shape 27"/>
          <p:cNvSpPr/>
          <p:nvPr/>
        </p:nvSpPr>
        <p:spPr>
          <a:xfrm>
            <a:off x="9829800" y="1828800"/>
            <a:ext cx="221284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70464" y="2057400"/>
            <a:ext cx="731520" cy="633496"/>
          </a:xfrm>
          <a:prstGeom prst="hexagon">
            <a:avLst/>
          </a:prstGeom>
          <a:solidFill>
            <a:srgbClr val="1B3D2F"/>
          </a:solidFill>
          <a:ln/>
        </p:spPr>
      </p:sp>
      <p:sp>
        <p:nvSpPr>
          <p:cNvPr id="31" name="Text 29"/>
          <p:cNvSpPr/>
          <p:nvPr/>
        </p:nvSpPr>
        <p:spPr>
          <a:xfrm>
            <a:off x="10570464" y="21214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012680" y="29260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12680" y="3337560"/>
            <a:ext cx="18470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Inner-join bee panel with pollutant panel on (State, Quarter); drop "Other States" misalignment rows.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tidy panel of ~161–167 state-quarter observations linking colony health to pollutant exposure.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64592" cy="142537"/>
          </a:xfrm>
          <a:prstGeom prst="hexagon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used rates, not raw counts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always dwarfs Connecticut in raw colony numbers. To compare states fairly, we normalized every bee outcome as a rate.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532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 BEE OUTCOMES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80360"/>
          <a:ext cx="4983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71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 Lost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outcome — colony stress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7D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Change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(Added − Lost) / Max — population trajectory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 Renovated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Beekeeper response — re-queening intensity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Colonies, Max, Lost, Added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— size confound across states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2286000"/>
            <a:ext cx="5532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24688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POLLUTANT EXPOSURE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3017520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6720" y="2926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particulate matter — respiratory &amp; olfactory disruption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0" y="3566160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34747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Ground-level O₃ — affects plant volatiles bees follow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0" y="4114800"/>
            <a:ext cx="164592" cy="164592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0" y="4023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46720" y="4023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monoxide — combustion / urban gradient proxy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583680" y="4663440"/>
            <a:ext cx="164592" cy="164592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0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572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dioxide — traffic &amp; industry indicator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583680" y="5212080"/>
            <a:ext cx="164592" cy="164592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5120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SO₂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046720" y="5120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 dioxide — coal/industrial point sources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37960" y="55321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used: Arithmetic Mean (concentration) per pollutant.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× Honey Bee Colonies  ·  IS 477 Final Project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64592" cy="142537"/>
          </a:xfrm>
          <a:prstGeom prst="hexagon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PM2.5 — the most credible signal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1783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0" y="2103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PM2.5 → more colony loss.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858000" y="2880360"/>
            <a:ext cx="4937760" cy="1280160"/>
          </a:xfrm>
          <a:prstGeom prst="rect">
            <a:avLst/>
          </a:prstGeom>
          <a:solidFill>
            <a:srgbClr val="1B3D2F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0" y="2971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+0.27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132320" y="3520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≈ 5 × 10⁻⁴   ·   n = 167 state-quarters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2320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State-average: r = +0.37 (p ≈ 0.013) · Spearman ρ = +0.48 (p ≈ 0.001)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0" y="4343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TRUST IT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4617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Bonferroni correction (α = 0.0033).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pooled and state-average analyses.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plausible — fine particles disrupt bees' olfactory navigation and respiratory function.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× Honey Bee Colonies  ·  IS 477 Final Project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64592" cy="142537"/>
          </a:xfrm>
          <a:prstGeom prst="hexagon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Ozone — strong, but probably confounded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1783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0" y="2103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ozone → larger net colony gain?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858000" y="2788920"/>
            <a:ext cx="4937760" cy="1188720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0" y="28803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+0.48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132320" y="3429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≈ 4 × 10⁻¹¹  ·  Net Change Rate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EXPLANATION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0" y="44348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peaks in warm, sunny southern/western states.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same regions have longer foraging seasons &amp; higher agricultural productivity.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likely captures climate, not a protective effect of ozone itself.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× Honey Bee Colonies  ·  IS 477 Final Project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64592" cy="142537"/>
          </a:xfrm>
          <a:prstGeom prst="hexagon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15 tests at a glance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6304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-548640" y="2194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Lost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-54864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Renovated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-548640" y="3931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Change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63040" y="2194560"/>
            <a:ext cx="1097280" cy="868680"/>
          </a:xfrm>
          <a:prstGeom prst="rect">
            <a:avLst/>
          </a:prstGeom>
          <a:solidFill>
            <a:srgbClr val="BBD5E0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1945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-0.19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60320" y="2194560"/>
            <a:ext cx="1097280" cy="868680"/>
          </a:xfrm>
          <a:prstGeom prst="rect">
            <a:avLst/>
          </a:prstGeom>
          <a:solidFill>
            <a:srgbClr val="E2A49E"/>
          </a:solidFill>
          <a:ln w="381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1945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+0.27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0" y="2194560"/>
            <a:ext cx="1097280" cy="868680"/>
          </a:xfrm>
          <a:prstGeom prst="rect">
            <a:avLst/>
          </a:prstGeom>
          <a:solidFill>
            <a:srgbClr val="E6B2AC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1945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+0.23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1097280" cy="868680"/>
          </a:xfrm>
          <a:prstGeom prst="rect">
            <a:avLst/>
          </a:prstGeom>
          <a:solidFill>
            <a:srgbClr val="ECC2BE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1945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52160" y="2194560"/>
            <a:ext cx="1097280" cy="868680"/>
          </a:xfrm>
          <a:prstGeom prst="rect">
            <a:avLst/>
          </a:prstGeom>
          <a:solidFill>
            <a:srgbClr val="FDF8F8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1945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63040" y="3063240"/>
            <a:ext cx="1097280" cy="868680"/>
          </a:xfrm>
          <a:prstGeom prst="rect">
            <a:avLst/>
          </a:prstGeom>
          <a:solidFill>
            <a:srgbClr val="D7827A"/>
          </a:solidFill>
          <a:ln w="381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30632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+0.37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560320" y="3063240"/>
            <a:ext cx="1097280" cy="868680"/>
          </a:xfrm>
          <a:prstGeom prst="rect">
            <a:avLst/>
          </a:prstGeom>
          <a:solidFill>
            <a:srgbClr val="FBF2F1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0632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57600" y="3063240"/>
            <a:ext cx="1097280" cy="868680"/>
          </a:xfrm>
          <a:prstGeom prst="rect">
            <a:avLst/>
          </a:prstGeom>
          <a:solidFill>
            <a:srgbClr val="EDF4F7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30632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-0.05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1097280" cy="868680"/>
          </a:xfrm>
          <a:prstGeom prst="rect">
            <a:avLst/>
          </a:prstGeom>
          <a:solidFill>
            <a:srgbClr val="FEFCFB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632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52160" y="3063240"/>
            <a:ext cx="1097280" cy="868680"/>
          </a:xfrm>
          <a:prstGeom prst="rect">
            <a:avLst/>
          </a:prstGeom>
          <a:solidFill>
            <a:srgbClr val="F4F8FA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30632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-0.03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63040" y="3931920"/>
            <a:ext cx="1097280" cy="868680"/>
          </a:xfrm>
          <a:prstGeom prst="rect">
            <a:avLst/>
          </a:prstGeom>
          <a:solidFill>
            <a:srgbClr val="CC5D52"/>
          </a:solidFill>
          <a:ln w="381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63040" y="39319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+0.48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560320" y="3931920"/>
            <a:ext cx="1097280" cy="868680"/>
          </a:xfrm>
          <a:prstGeom prst="rect">
            <a:avLst/>
          </a:prstGeom>
          <a:solidFill>
            <a:srgbClr val="B7D3DF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39319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-0.20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57600" y="3931920"/>
            <a:ext cx="1097280" cy="868680"/>
          </a:xfrm>
          <a:prstGeom prst="rect">
            <a:avLst/>
          </a:prstGeom>
          <a:solidFill>
            <a:srgbClr val="DBE9EF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39319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-0.10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54880" y="3931920"/>
            <a:ext cx="1097280" cy="868680"/>
          </a:xfrm>
          <a:prstGeom prst="rect">
            <a:avLst/>
          </a:prstGeom>
          <a:solidFill>
            <a:srgbClr val="E9F2F5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9319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-0.06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852160" y="3931920"/>
            <a:ext cx="1097280" cy="868680"/>
          </a:xfrm>
          <a:prstGeom prst="rect">
            <a:avLst/>
          </a:prstGeom>
          <a:solidFill>
            <a:srgbClr val="FCF5F4"/>
          </a:solidFill>
          <a:ln w="6350">
            <a:solidFill>
              <a:srgbClr val="DCD7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39319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98080" y="1783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MATRIX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98080" y="2286000"/>
            <a:ext cx="365760" cy="365760"/>
          </a:xfrm>
          <a:prstGeom prst="rect">
            <a:avLst/>
          </a:prstGeom>
          <a:solidFill>
            <a:srgbClr val="C9574B"/>
          </a:solidFill>
          <a:ln/>
        </p:spPr>
      </p:sp>
      <p:sp>
        <p:nvSpPr>
          <p:cNvPr id="45" name="Text 43"/>
          <p:cNvSpPr/>
          <p:nvPr/>
        </p:nvSpPr>
        <p:spPr>
          <a:xfrm>
            <a:off x="80010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 (more pollutant → higher rate)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98080" y="2743200"/>
            <a:ext cx="365760" cy="365760"/>
          </a:xfrm>
          <a:prstGeom prst="rect">
            <a:avLst/>
          </a:prstGeom>
          <a:solidFill>
            <a:srgbClr val="4C91AE"/>
          </a:solidFill>
          <a:ln/>
        </p:spPr>
      </p:sp>
      <p:sp>
        <p:nvSpPr>
          <p:cNvPr id="47" name="Text 45"/>
          <p:cNvSpPr/>
          <p:nvPr/>
        </p:nvSpPr>
        <p:spPr>
          <a:xfrm>
            <a:off x="800100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 (more pollutant → lower rate)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98080" y="3200400"/>
            <a:ext cx="365760" cy="36576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0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0100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Bonferroni correction (α = 0.0033)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98080" y="3886200"/>
            <a:ext cx="4434840" cy="1371600"/>
          </a:xfrm>
          <a:prstGeom prst="rect">
            <a:avLst/>
          </a:prstGeom>
          <a:solidFill>
            <a:srgbClr val="1B3D2F"/>
          </a:solidFill>
          <a:ln/>
        </p:spPr>
      </p:sp>
      <p:sp>
        <p:nvSpPr>
          <p:cNvPr id="51" name="Text 49"/>
          <p:cNvSpPr/>
          <p:nvPr/>
        </p:nvSpPr>
        <p:spPr>
          <a:xfrm>
            <a:off x="7726680" y="3977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of 15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7726680" y="44348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correlations remain significant after Bonferroni correction. PM2.5 → Percent Lost is the most biologically credible.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state × quarter panel · n ≈ 161–167 observations · cell color encodes Pearson r magnitude and direction.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64592" cy="142537"/>
          </a:xfrm>
          <a:prstGeom prst="hexagon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quality matters — but it's only part of the picture.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703320" cy="3657600"/>
          </a:xfrm>
          <a:prstGeom prst="rect">
            <a:avLst/>
          </a:prstGeom>
          <a:solidFill>
            <a:srgbClr val="2C5F4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73152" cy="3657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246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is the only pollutant with a robust, biologically plausible link to colony loss.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correlations are large but likely driven by climate and land-use confounds.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and NO₂ show weak urbanization-shaped signals; SO₂ is essentially flat.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148840"/>
            <a:ext cx="3703320" cy="3657600"/>
          </a:xfrm>
          <a:prstGeom prst="rect">
            <a:avLst/>
          </a:prstGeom>
          <a:solidFill>
            <a:srgbClr val="2C5F4A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2148840"/>
            <a:ext cx="73152" cy="3657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246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quarters of data — limited statistical power for time-series tests.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Equal-weighted state averages ignore apiary location and station coverage.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correlations ≠ causation; many unmeasured confounders remain.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2148840"/>
            <a:ext cx="3703320" cy="3657600"/>
          </a:xfrm>
          <a:prstGeom prst="rect">
            <a:avLst/>
          </a:prstGeom>
          <a:solidFill>
            <a:srgbClr val="2C5F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2148840"/>
            <a:ext cx="73152" cy="3657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0" y="2743200"/>
            <a:ext cx="3246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additional years as USDA &amp; EPA release new data.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covariates: temperature, drought, land use, neonicotinoid usage.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correlation to mixed-effects regression with state fixed effects.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989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15 tested hypotheses, only PM2.5 → Percent Lost is consistent, significant, and biologically grounded. Cleaner air may mean healthier colonies.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 &amp; 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881360" y="6583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Pollution &amp; Honey Bee Colonies</dc:title>
  <dc:subject>PptxGenJS Presentation</dc:subject>
  <dc:creator>Charlotte Cao, Nanxi Chen, Sangshi (Justin) Yang</dc:creator>
  <cp:lastModifiedBy>Charlotte Cao, Nanxi Chen, Sangshi (Justin) Yang</cp:lastModifiedBy>
  <cp:revision>1</cp:revision>
  <dcterms:created xsi:type="dcterms:W3CDTF">2026-05-06T04:11:53Z</dcterms:created>
  <dcterms:modified xsi:type="dcterms:W3CDTF">2026-05-06T04:11:53Z</dcterms:modified>
</cp:coreProperties>
</file>